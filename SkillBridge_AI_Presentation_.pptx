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83A4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83A40"/>
                </a:solidFill>
                <a:latin typeface="Arial"/>
              </a:rPr>
              <a:t>F1-score by category (selected)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2E706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E706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Aviation</c:v>
                  </c:pt>
                  <c:pt idx="1">
                    <c:v>HR</c:v>
                  </c:pt>
                  <c:pt idx="2">
                    <c:v>IT</c:v>
                  </c:pt>
                  <c:pt idx="3">
                    <c:v>Banking</c:v>
                  </c:pt>
                  <c:pt idx="4">
                    <c:v>Sales</c:v>
                  </c:pt>
                  <c:pt idx="5">
                    <c:v>Apparel</c:v>
                  </c:pt>
                  <c:pt idx="6">
                    <c:v>Arts</c:v>
                  </c:pt>
                  <c:pt idx="7">
                    <c:v>Consultant</c:v>
                  </c:pt>
                  <c:pt idx="8">
                    <c:v>BPO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0.82</c:v>
                </c:pt>
                <c:pt idx="1">
                  <c:v>0.8</c:v>
                </c:pt>
                <c:pt idx="2">
                  <c:v>0.79</c:v>
                </c:pt>
                <c:pt idx="3">
                  <c:v>0.78</c:v>
                </c:pt>
                <c:pt idx="4">
                  <c:v>0.48</c:v>
                </c:pt>
                <c:pt idx="5">
                  <c:v>0.36</c:v>
                </c:pt>
                <c:pt idx="6">
                  <c:v>0.33</c:v>
                </c:pt>
                <c:pt idx="7">
                  <c:v>0.22</c:v>
                </c:pt>
                <c:pt idx="8">
                  <c:v>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E706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463040"/>
            <a:ext cx="3108960" cy="3108960"/>
          </a:xfrm>
          <a:prstGeom prst="ellipse">
            <a:avLst/>
          </a:prstGeom>
          <a:ln w="203200">
            <a:solidFill>
              <a:srgbClr val="559E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502920" y="274320"/>
            <a:ext cx="274320" cy="292608"/>
          </a:xfrm>
          <a:prstGeom prst="chevron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2560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7724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AI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02920" y="2697480"/>
            <a:ext cx="7223760" cy="502920"/>
          </a:xfrm>
          <a:prstGeom prst="roundRect">
            <a:avLst>
              <a:gd name="adj" fmla="val 49091"/>
            </a:avLst>
          </a:prstGeom>
          <a:ln w="12700">
            <a:solidFill>
              <a:srgbClr val="2E706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69748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Recommendation Using NLP, BERT &amp; ML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5661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2520080033 - D. Shamika Hasini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2520090183 - Priya Vallika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Y. Lakshmi Prasanna, Dept. of CS&amp;IT, KL University | A.Y. 2026-27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" y="201168"/>
            <a:ext cx="256032" cy="274320"/>
          </a:xfrm>
          <a:prstGeom prst="chevron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182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13,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00200"/>
            <a:ext cx="2286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market changes fast and new skills appear every year. Many students do not know which skills their target role needs.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600200"/>
            <a:ext cx="2286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and Machine Learning applied to resumes and career data (HR-tech / EdTech).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needed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600200"/>
            <a:ext cx="2286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advice is mostly manual and generic. A data-driven system can show what to learn next.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" y="201168"/>
            <a:ext cx="256032" cy="274320"/>
          </a:xfrm>
          <a:prstGeom prst="chevron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182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13,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problem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00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cannot see the gap between their resume and the skills a role demands.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00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assessment and keyword matching ignore context and give the same advice to everyone.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1600200"/>
          </a:xfrm>
          <a:prstGeom prst="roundRect">
            <a:avLst>
              <a:gd name="adj" fmla="val 6857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9900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832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fresh graduates, job seekers and working professionals who want to upskill, plus placement cells and recruiters who screen many unstructured resumes.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" y="201168"/>
            <a:ext cx="256032" cy="274320"/>
          </a:xfrm>
          <a:prstGeom prst="chevron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182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13,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8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career tools say which job may fit, but not what to learn next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8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our own batch face the same confusion about skills and roles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8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are unstructured text, which suits NLP and ML techniques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8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hiring is moving towards skill-based screening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8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course concepts: vectorisation, classification, evaluation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" y="201168"/>
            <a:ext cx="256032" cy="274320"/>
          </a:xfrm>
          <a:prstGeom prst="chevron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182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13,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640080"/>
          </a:xfrm>
          <a:prstGeom prst="roundRect">
            <a:avLst>
              <a:gd name="adj" fmla="val 42857"/>
            </a:avLst>
          </a:prstGeom>
          <a:solidFill>
            <a:srgbClr val="183A40"/>
          </a:solidFill>
          <a:ln w="12700">
            <a:solidFill>
              <a:srgbClr val="183A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objective: predict a suitable career from a resume and show the skills still missing for a target role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384048" cy="384048"/>
          </a:xfrm>
          <a:prstGeom prst="ellipse">
            <a:avLst/>
          </a:prstGeom>
          <a:solidFill>
            <a:srgbClr val="55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19202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prepare unstructured resume text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2487168"/>
            <a:ext cx="384048" cy="384048"/>
          </a:xfrm>
          <a:prstGeom prst="ellipse">
            <a:avLst/>
          </a:prstGeom>
          <a:solidFill>
            <a:srgbClr val="2E70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4871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evaluate a career category classifier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3054096"/>
            <a:ext cx="384048" cy="384048"/>
          </a:xfrm>
          <a:prstGeom prst="ellipse">
            <a:avLst/>
          </a:prstGeom>
          <a:solidFill>
            <a:srgbClr val="55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5409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skills and compare them with role requirements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3621024"/>
            <a:ext cx="384048" cy="384048"/>
          </a:xfrm>
          <a:prstGeom prst="ellipse">
            <a:avLst/>
          </a:prstGeom>
          <a:solidFill>
            <a:srgbClr val="2E70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6210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missing skills and a coverage score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48640" y="4187952"/>
            <a:ext cx="384048" cy="384048"/>
          </a:xfrm>
          <a:prstGeom prst="ellipse">
            <a:avLst/>
          </a:prstGeom>
          <a:solidFill>
            <a:srgbClr val="55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187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results in a simple web dashboard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" y="201168"/>
            <a:ext cx="256032" cy="274320"/>
          </a:xfrm>
          <a:prstGeom prst="chevron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182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13,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00200"/>
            <a:ext cx="2286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counselling, self-assessment forms and basic job portals with keyword search.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600200"/>
            <a:ext cx="2286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matching, rule-based filters, applicant tracking systems with simple text search.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600200"/>
            <a:ext cx="2286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contextual meaning, no personalised gap list, depends on counsellor experience, hard to scale.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" y="201168"/>
            <a:ext cx="256032" cy="274320"/>
          </a:xfrm>
          <a:prstGeom prst="chevron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182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13,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9728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7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AI reads a resume and predicts the most suitable career category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7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existing skills and compares them with the target role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7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missing skills with a coverage percentage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7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courses and learning resources to close the gap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7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embeddings proposed for contextual matching in the next stage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577840" y="1097280"/>
            <a:ext cx="3108960" cy="3383280"/>
          </a:xfrm>
          <a:prstGeom prst="roundRect">
            <a:avLst>
              <a:gd name="adj" fmla="val 3529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60720" y="1207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limitations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600200"/>
            <a:ext cx="2743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text instead of keywords.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personal skill gap, not generic advice.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automatically, so it scales to many users.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" y="201168"/>
            <a:ext cx="256032" cy="274320"/>
          </a:xfrm>
          <a:prstGeom prst="chevron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182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13,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1463040" cy="1188720"/>
          </a:xfrm>
          <a:prstGeom prst="roundRect">
            <a:avLst>
              <a:gd name="adj" fmla="val 23077"/>
            </a:avLst>
          </a:prstGeom>
          <a:solidFill>
            <a:srgbClr val="183A40"/>
          </a:solidFill>
          <a:ln w="12700">
            <a:solidFill>
              <a:srgbClr val="183A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1691640"/>
            <a:ext cx="1463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text,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career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47088" y="2148840"/>
            <a:ext cx="237744" cy="274320"/>
          </a:xfrm>
          <a:prstGeom prst="rightArrow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03120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03120" y="1691640"/>
            <a:ext cx="1463040" cy="1188720"/>
          </a:xfrm>
          <a:prstGeom prst="roundRect">
            <a:avLst>
              <a:gd name="adj" fmla="val 23077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03120" y="1691640"/>
            <a:ext cx="1463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lowercase,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noise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84448" y="2148840"/>
            <a:ext cx="237744" cy="274320"/>
          </a:xfrm>
          <a:prstGeom prst="rightArrow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0480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0" y="1691640"/>
            <a:ext cx="1463040" cy="1188720"/>
          </a:xfrm>
          <a:prstGeom prst="roundRect">
            <a:avLst>
              <a:gd name="adj" fmla="val 23077"/>
            </a:avLst>
          </a:prstGeom>
          <a:solidFill>
            <a:srgbClr val="183A40"/>
          </a:solidFill>
          <a:ln w="12700">
            <a:solidFill>
              <a:srgbClr val="183A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40480" y="1691640"/>
            <a:ext cx="1463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21808" y="2148840"/>
            <a:ext cx="237744" cy="274320"/>
          </a:xfrm>
          <a:prstGeom prst="rightArrow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77840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1691640"/>
            <a:ext cx="1463040" cy="1188720"/>
          </a:xfrm>
          <a:prstGeom prst="roundRect">
            <a:avLst>
              <a:gd name="adj" fmla="val 23077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77840" y="1691640"/>
            <a:ext cx="1463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skills,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role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059168" y="2148840"/>
            <a:ext cx="237744" cy="274320"/>
          </a:xfrm>
          <a:prstGeom prst="rightArrow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0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0" y="1691640"/>
            <a:ext cx="1463040" cy="1188720"/>
          </a:xfrm>
          <a:prstGeom prst="roundRect">
            <a:avLst>
              <a:gd name="adj" fmla="val 23077"/>
            </a:avLst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0" y="1691640"/>
            <a:ext cx="1463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Career, missing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courses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20040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33101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703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TF-IDF (20,000 features, 1-2 grams) with Logistic Regression. Skill gap uses a 24-skill dictionary and a career-to-skill map. Proposed: BERT embeddings for semantic matching.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" y="201168"/>
            <a:ext cx="256032" cy="274320"/>
          </a:xfrm>
          <a:prstGeom prst="chevron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182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13,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Workflow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1051560" cy="1005840"/>
          </a:xfrm>
          <a:prstGeom prst="roundRect">
            <a:avLst>
              <a:gd name="adj" fmla="val 27273"/>
            </a:avLst>
          </a:prstGeom>
          <a:solidFill>
            <a:srgbClr val="183A40"/>
          </a:solidFill>
          <a:ln w="12700">
            <a:solidFill>
              <a:srgbClr val="183A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" y="1828800"/>
            <a:ext cx="10515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80744" y="2240280"/>
            <a:ext cx="173736" cy="201168"/>
          </a:xfrm>
          <a:prstGeom prst="rightArrow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63624" y="1828800"/>
            <a:ext cx="1051560" cy="1005840"/>
          </a:xfrm>
          <a:prstGeom prst="roundRect">
            <a:avLst>
              <a:gd name="adj" fmla="val 27273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63624" y="1828800"/>
            <a:ext cx="10515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24328" y="2240280"/>
            <a:ext cx="173736" cy="201168"/>
          </a:xfrm>
          <a:prstGeom prst="rightArrow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07208" y="1828800"/>
            <a:ext cx="1051560" cy="1005840"/>
          </a:xfrm>
          <a:prstGeom prst="roundRect">
            <a:avLst>
              <a:gd name="adj" fmla="val 27273"/>
            </a:avLst>
          </a:prstGeom>
          <a:solidFill>
            <a:srgbClr val="183A40"/>
          </a:solidFill>
          <a:ln w="12700">
            <a:solidFill>
              <a:srgbClr val="183A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07208" y="1828800"/>
            <a:ext cx="10515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67912" y="2240280"/>
            <a:ext cx="173736" cy="201168"/>
          </a:xfrm>
          <a:prstGeom prst="rightArrow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50792" y="1828800"/>
            <a:ext cx="1051560" cy="1005840"/>
          </a:xfrm>
          <a:prstGeom prst="roundRect">
            <a:avLst>
              <a:gd name="adj" fmla="val 27273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50792" y="1828800"/>
            <a:ext cx="10515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11496" y="2240280"/>
            <a:ext cx="173736" cy="201168"/>
          </a:xfrm>
          <a:prstGeom prst="rightArrow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94376" y="1828800"/>
            <a:ext cx="1051560" cy="1005840"/>
          </a:xfrm>
          <a:prstGeom prst="roundRect">
            <a:avLst>
              <a:gd name="adj" fmla="val 27273"/>
            </a:avLst>
          </a:prstGeom>
          <a:solidFill>
            <a:srgbClr val="183A40"/>
          </a:solidFill>
          <a:ln w="12700">
            <a:solidFill>
              <a:srgbClr val="183A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94376" y="1828800"/>
            <a:ext cx="10515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2240280"/>
            <a:ext cx="173736" cy="201168"/>
          </a:xfrm>
          <a:prstGeom prst="rightArrow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1828800"/>
            <a:ext cx="1051560" cy="1005840"/>
          </a:xfrm>
          <a:prstGeom prst="roundRect">
            <a:avLst>
              <a:gd name="adj" fmla="val 27273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1828800"/>
            <a:ext cx="10515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model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98664" y="2240280"/>
            <a:ext cx="173736" cy="201168"/>
          </a:xfrm>
          <a:prstGeom prst="rightArrow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81544" y="1828800"/>
            <a:ext cx="1051560" cy="1005840"/>
          </a:xfrm>
          <a:prstGeom prst="roundRect">
            <a:avLst>
              <a:gd name="adj" fmla="val 27273"/>
            </a:avLst>
          </a:prstGeom>
          <a:solidFill>
            <a:srgbClr val="183A40"/>
          </a:solidFill>
          <a:ln w="12700">
            <a:solidFill>
              <a:srgbClr val="183A4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81544" y="1828800"/>
            <a:ext cx="10515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 and gap analysis run on the same resume text after prediction.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" y="201168"/>
            <a:ext cx="256032" cy="274320"/>
          </a:xfrm>
          <a:prstGeom prst="chevron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182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13,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and tools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002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3, Google Colab, VS Code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002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scikit-learn, NLTK, matplotlib, seaborn, joblib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832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Plotly; BERT via Hugging Face Transformers (proposed)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cloud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3832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Resume.csv dataset, Google Drive for model storage, ngrok for demo link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" y="201168"/>
            <a:ext cx="256032" cy="274320"/>
          </a:xfrm>
          <a:prstGeom prst="chevron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182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13,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920240" cy="1097280"/>
          </a:xfrm>
          <a:prstGeom prst="roundRect">
            <a:avLst>
              <a:gd name="adj" fmla="val 25000"/>
            </a:avLst>
          </a:prstGeom>
          <a:solidFill>
            <a:srgbClr val="183A40"/>
          </a:solidFill>
          <a:ln w="12700">
            <a:solidFill>
              <a:srgbClr val="183A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80160"/>
            <a:ext cx="19202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920240" cy="1097280"/>
          </a:xfrm>
          <a:prstGeom prst="roundRect">
            <a:avLst>
              <a:gd name="adj" fmla="val 25000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280160"/>
            <a:ext cx="19202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1920240" cy="1097280"/>
          </a:xfrm>
          <a:prstGeom prst="roundRect">
            <a:avLst>
              <a:gd name="adj" fmla="val 25000"/>
            </a:avLst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280160"/>
            <a:ext cx="19202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66560" y="1280160"/>
            <a:ext cx="1920240" cy="1097280"/>
          </a:xfrm>
          <a:prstGeom prst="roundRect">
            <a:avLst>
              <a:gd name="adj" fmla="val 25000"/>
            </a:avLst>
          </a:prstGeom>
          <a:solidFill>
            <a:srgbClr val="183A40"/>
          </a:solidFill>
          <a:ln w="12700">
            <a:solidFill>
              <a:srgbClr val="183A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280160"/>
            <a:ext cx="19202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1920240" cy="1097280"/>
          </a:xfrm>
          <a:prstGeom prst="roundRect">
            <a:avLst>
              <a:gd name="adj" fmla="val 25000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743200"/>
            <a:ext cx="19202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Extractor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560320" y="2743200"/>
            <a:ext cx="1920240" cy="1097280"/>
          </a:xfrm>
          <a:prstGeom prst="roundRect">
            <a:avLst>
              <a:gd name="adj" fmla="val 25000"/>
            </a:avLst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60320" y="2743200"/>
            <a:ext cx="19202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1920240" cy="1097280"/>
          </a:xfrm>
          <a:prstGeom prst="roundRect">
            <a:avLst>
              <a:gd name="adj" fmla="val 25000"/>
            </a:avLst>
          </a:prstGeom>
          <a:solidFill>
            <a:srgbClr val="183A40"/>
          </a:solidFill>
          <a:ln w="12700">
            <a:solidFill>
              <a:srgbClr val="183A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2743200"/>
            <a:ext cx="19202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66560" y="2743200"/>
            <a:ext cx="1920240" cy="1097280"/>
          </a:xfrm>
          <a:prstGeom prst="roundRect">
            <a:avLst>
              <a:gd name="adj" fmla="val 25000"/>
            </a:avLst>
          </a:prstGeom>
          <a:solidFill>
            <a:srgbClr val="183A40"/>
          </a:solidFill>
          <a:ln w="12700">
            <a:solidFill>
              <a:srgbClr val="183A4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0" y="2743200"/>
            <a:ext cx="19202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Storage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is planned for the full deployment.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" y="201168"/>
            <a:ext cx="256032" cy="274320"/>
          </a:xfrm>
          <a:prstGeom prst="chevron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182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13,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Resume.csv and kept the Resume_str and Category columns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missing, empty and duplicate resumes (2,484 to 2,481)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scikit-learn Pipeline: TfidfVectorizer + LogisticRegression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Dictionary-based skill extractor using word-boundary regex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analyze_skill_gap() returns matched, missing skills and coverage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career_model.joblib and evaluation_metrics.json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20640" y="1143000"/>
            <a:ext cx="3566160" cy="3291840"/>
          </a:xfrm>
          <a:prstGeom prst="rect">
            <a:avLst/>
          </a:prstGeom>
          <a:solidFill>
            <a:srgbClr val="183A40"/>
          </a:solidFill>
          <a:ln w="12700">
            <a:solidFill>
              <a:srgbClr val="183A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57800" y="128016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E7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Pipeline([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E7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("tfidf", TfidfVectorizer(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E7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max_features=20000,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E7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ngram_range=(1, 2),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E7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sublinear_tf=True)),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E7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("classifier",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E7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LogisticRegression(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E7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max_iter=2000,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E7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class_weight="balanced"))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E7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" y="201168"/>
            <a:ext cx="256032" cy="274320"/>
          </a:xfrm>
          <a:prstGeom prst="chevron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182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13,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2,484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(2,481 after cleaning)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051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categories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1051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5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ID, Resume_str, Resume_html, Category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8803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nulls, empty text and duplicates; lowercased and removed special characters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split: 1,984 train and 497 test resumes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Imbalance: BPO has 22 resumes vs 120 for IT, handled with balanced class weights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" y="201168"/>
            <a:ext cx="256032" cy="274320"/>
          </a:xfrm>
          <a:prstGeom prst="chevron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182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13,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/ Model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002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features with Logistic Regression (multi-class)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selected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002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on sparse, high-dimensional text, trains fast, easy to explain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832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text, TF-IDF vector (20,000 features), logistic layer, 24 class scores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3832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ngram (1,2), sublinear_tf, max_iter 2000, class_weight balanced, test size 0.2, seed 42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" y="201168"/>
            <a:ext cx="256032" cy="274320"/>
          </a:xfrm>
          <a:prstGeom prst="chevron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182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13,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18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51560"/>
            <a:ext cx="13716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64.19%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920240" y="105156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2E70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20240" y="1051560"/>
            <a:ext cx="13716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precision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2E70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194560"/>
            <a:ext cx="13716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recall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920240" y="219456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18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20240" y="2194560"/>
            <a:ext cx="13716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29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F1: 0.62. Best: Aviation, HR, IT, Banking. Weakest: Consultant, Arts, Apparel, BPO.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566160" y="960120"/>
          <a:ext cx="52120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" y="201168"/>
            <a:ext cx="256032" cy="274320"/>
          </a:xfrm>
          <a:prstGeom prst="chevron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182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13,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Existing Methods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737360"/>
                <a:gridCol w="1737360"/>
                <a:gridCol w="17373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Understands context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skill gap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from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A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E70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counselling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70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70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70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E70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matching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70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70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70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E70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SkillBridge (TF-IDF + LR)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70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70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70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E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E70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SkillBridge + BERT (proposed)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70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70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70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E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comparison; no benchmark against other systems was run.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" y="201168"/>
            <a:ext cx="256032" cy="274320"/>
          </a:xfrm>
          <a:prstGeom prst="chevron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182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13,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/ Demo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23360" cy="1645920"/>
          </a:xfrm>
          <a:prstGeom prst="rect">
            <a:avLst/>
          </a:prstGeom>
          <a:solidFill>
            <a:srgbClr val="E3E8E2"/>
          </a:solidFill>
          <a:ln w="19050">
            <a:solidFill>
              <a:srgbClr val="2E706C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57200" y="105156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Streamlit screenshot here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1645920"/>
          </a:xfrm>
          <a:prstGeom prst="rect">
            <a:avLst/>
          </a:prstGeom>
          <a:solidFill>
            <a:srgbClr val="E3E8E2"/>
          </a:solidFill>
          <a:ln w="19050">
            <a:solidFill>
              <a:srgbClr val="2E706C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663440" y="105156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screen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Streamlit screenshot here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4023360" cy="1645920"/>
          </a:xfrm>
          <a:prstGeom prst="rect">
            <a:avLst/>
          </a:prstGeom>
          <a:solidFill>
            <a:srgbClr val="E3E8E2"/>
          </a:solidFill>
          <a:ln w="19050">
            <a:solidFill>
              <a:srgbClr val="2E706C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57200" y="288036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screen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Streamlit screenshot here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4023360" cy="1645920"/>
          </a:xfrm>
          <a:prstGeom prst="rect">
            <a:avLst/>
          </a:prstGeom>
          <a:solidFill>
            <a:srgbClr val="E3E8E2"/>
          </a:solidFill>
          <a:ln w="19050">
            <a:solidFill>
              <a:srgbClr val="2E706C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4663440" y="288036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screen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Streamlit screenshot here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" y="201168"/>
            <a:ext cx="256032" cy="274320"/>
          </a:xfrm>
          <a:prstGeom prst="chevron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182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13,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8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beyond keyword search by learning patterns from resume text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8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personal list of missing skills and a coverage score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8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 and predict; lightweight Logistic Regression model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8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skill gap output users can act on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8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extend with new careers and skills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" y="201168"/>
            <a:ext cx="256032" cy="274320"/>
          </a:xfrm>
          <a:prstGeom prst="chevron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182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13,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00200"/>
            <a:ext cx="2286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readiness for a target role and plan what to learn.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600200"/>
            <a:ext cx="2286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cells can see workforce readiness and align training with industry needs.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/ industry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600200"/>
            <a:ext cx="2286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screening of resumes by category in IT, finance, HR and other fields.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" y="201168"/>
            <a:ext cx="256032" cy="274320"/>
          </a:xfrm>
          <a:prstGeom prst="chevron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182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13,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8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64.19%; Consultant, Arts, Apparel and BPO are weak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8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BPO has only 22 resumes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8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extractor covers a fixed list of 24 skills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8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works for only 5 careers; the mapping is hand-made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8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does not capture context; BERT is not yet implemented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" y="201168"/>
            <a:ext cx="256032" cy="274320"/>
          </a:xfrm>
          <a:prstGeom prst="chevron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182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13,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8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BERT embeddings for semantic matching of resumes and jobs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8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skill lists from real job descriptions and more careers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8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each missing skill to specific courses and certifications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8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 (PDF) and user accounts with authentication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8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online for institutions and scale to more users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" y="201168"/>
            <a:ext cx="256032" cy="274320"/>
          </a:xfrm>
          <a:prstGeom prst="chevron">
            <a:avLst/>
          </a:prstGeom>
          <a:solidFill>
            <a:srgbClr val="559E9E"/>
          </a:solidFill>
          <a:ln w="12700">
            <a:solidFill>
              <a:srgbClr val="559E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182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13,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00200"/>
            <a:ext cx="2286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that predicts a career category and reports missing skills.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600200"/>
            <a:ext cx="2286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64.19% accuracy over 24 categories; Data Scientist example showed 22.22% skill coverage.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EFEFE8"/>
          </a:solidFill>
          <a:ln w="12700">
            <a:solidFill>
              <a:srgbClr val="2E706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600200"/>
            <a:ext cx="2286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baseline for skill-based career guidance, ready to improve with BERT and richer data.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F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463040"/>
            <a:ext cx="3108960" cy="3108960"/>
          </a:xfrm>
          <a:prstGeom prst="ellipse">
            <a:avLst/>
          </a:prstGeom>
          <a:ln w="203200">
            <a:solidFill>
              <a:srgbClr val="559E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737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743200" cy="457200"/>
          </a:xfrm>
          <a:prstGeom prst="roundRect">
            <a:avLst>
              <a:gd name="adj" fmla="val 50000"/>
            </a:avLst>
          </a:prstGeom>
          <a:ln w="12700">
            <a:solidFill>
              <a:srgbClr val="2E706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SkillBridge AI</dc:title>
  <dc:subject>PptxGenJS Presentation</dc:subject>
  <dc:creator>PptxGenJS</dc:creator>
  <cp:lastModifiedBy>PptxGenJS</cp:lastModifiedBy>
  <cp:revision>1</cp:revision>
  <dcterms:created xsi:type="dcterms:W3CDTF">2026-10-13T15:59:47Z</dcterms:created>
  <dcterms:modified xsi:type="dcterms:W3CDTF">2026-10-13T15:59:47Z</dcterms:modified>
</cp:coreProperties>
</file>